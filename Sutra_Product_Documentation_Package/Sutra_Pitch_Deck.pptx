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img/sutra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86000"/>
            <a:ext cx="2194560" cy="2194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0" y="22402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</a:t>
            </a:r>
            <a:endParaRPr lang="en-US" sz="7400" dirty="0"/>
          </a:p>
        </p:txBody>
      </p:sp>
      <p:sp>
        <p:nvSpPr>
          <p:cNvPr id="4" name="Text 1"/>
          <p:cNvSpPr/>
          <p:nvPr/>
        </p:nvSpPr>
        <p:spPr>
          <a:xfrm>
            <a:off x="3246120" y="3429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 workspace for the way students actually work.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3246120" y="3977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· planning · homework · AP prep · review · college · life — woven into one private workspace.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77240" y="5074920"/>
            <a:ext cx="1060704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2376" y="5020056"/>
            <a:ext cx="109728" cy="109728"/>
          </a:xfrm>
          <a:prstGeom prst="ellipse">
            <a:avLst/>
          </a:prstGeom>
          <a:solidFill>
            <a:srgbClr val="8FA9F8"/>
          </a:solidFill>
          <a:ln/>
        </p:spPr>
      </p:sp>
      <p:sp>
        <p:nvSpPr>
          <p:cNvPr id="8" name="Shape 5"/>
          <p:cNvSpPr/>
          <p:nvPr/>
        </p:nvSpPr>
        <p:spPr>
          <a:xfrm>
            <a:off x="2871216" y="5020056"/>
            <a:ext cx="109728" cy="10972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Shape 6"/>
          <p:cNvSpPr/>
          <p:nvPr/>
        </p:nvSpPr>
        <p:spPr>
          <a:xfrm>
            <a:off x="5065776" y="5020056"/>
            <a:ext cx="109728" cy="109728"/>
          </a:xfrm>
          <a:prstGeom prst="ellipse">
            <a:avLst/>
          </a:prstGeom>
          <a:solidFill>
            <a:srgbClr val="8FA9F8"/>
          </a:solidFill>
          <a:ln/>
        </p:spPr>
      </p:sp>
      <p:sp>
        <p:nvSpPr>
          <p:cNvPr id="10" name="Shape 7"/>
          <p:cNvSpPr/>
          <p:nvPr/>
        </p:nvSpPr>
        <p:spPr>
          <a:xfrm>
            <a:off x="7260336" y="5020056"/>
            <a:ext cx="109728" cy="10972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11" name="Shape 8"/>
          <p:cNvSpPr/>
          <p:nvPr/>
        </p:nvSpPr>
        <p:spPr>
          <a:xfrm>
            <a:off x="9454896" y="5020056"/>
            <a:ext cx="109728" cy="109728"/>
          </a:xfrm>
          <a:prstGeom prst="ellipse">
            <a:avLst/>
          </a:prstGeom>
          <a:solidFill>
            <a:srgbClr val="8FA9F8"/>
          </a:solidFill>
          <a:ln/>
        </p:spPr>
      </p:sp>
      <p:sp>
        <p:nvSpPr>
          <p:cNvPr id="12" name="Shape 9"/>
          <p:cNvSpPr/>
          <p:nvPr/>
        </p:nvSpPr>
        <p:spPr>
          <a:xfrm>
            <a:off x="11329416" y="5020056"/>
            <a:ext cx="109728" cy="10972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349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 ·  LOCAL-FIRST  ·  STUDENT-BUILT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" y="61264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preview — research/portfolio overview · Built by Tanuj Ranjith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student's day is scattered across a dozen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371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8" name="Shape 6"/>
          <p:cNvSpPr/>
          <p:nvPr/>
        </p:nvSpPr>
        <p:spPr>
          <a:xfrm>
            <a:off x="1906524" y="6441948"/>
            <a:ext cx="64008" cy="6400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local-first student workspace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737360"/>
            <a:ext cx="2670048" cy="960120"/>
          </a:xfrm>
          <a:prstGeom prst="roundRect">
            <a:avLst>
              <a:gd name="adj" fmla="val 9524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" y="1865376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app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3232" y="224028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ideas live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737360"/>
            <a:ext cx="2670048" cy="960120"/>
          </a:xfrm>
          <a:prstGeom prst="roundRect">
            <a:avLst>
              <a:gd name="adj" fmla="val 9524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47872" y="1865376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portal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47872" y="224028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grades live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737360"/>
            <a:ext cx="2670048" cy="960120"/>
          </a:xfrm>
          <a:prstGeom prst="roundRect">
            <a:avLst>
              <a:gd name="adj" fmla="val 9524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82512" y="1865376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82512" y="224028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time lives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1737360"/>
            <a:ext cx="2670048" cy="960120"/>
          </a:xfrm>
          <a:prstGeom prst="roundRect">
            <a:avLst>
              <a:gd name="adj" fmla="val 9524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17152" y="1865376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217152" y="224028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to-dos live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880360"/>
            <a:ext cx="2670048" cy="960120"/>
          </a:xfrm>
          <a:prstGeom prst="roundRect">
            <a:avLst>
              <a:gd name="adj" fmla="val 9524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3232" y="3008376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13232" y="338328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answers live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2880360"/>
            <a:ext cx="2670048" cy="960120"/>
          </a:xfrm>
          <a:prstGeom prst="roundRect">
            <a:avLst>
              <a:gd name="adj" fmla="val 9524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547872" y="3008376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tools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547872" y="338328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review lives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880360"/>
            <a:ext cx="2670048" cy="960120"/>
          </a:xfrm>
          <a:prstGeom prst="roundRect">
            <a:avLst>
              <a:gd name="adj" fmla="val 9524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82512" y="3008376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files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382512" y="338328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work lives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52560" y="2880360"/>
            <a:ext cx="2670048" cy="960120"/>
          </a:xfrm>
          <a:prstGeom prst="roundRect">
            <a:avLst>
              <a:gd name="adj" fmla="val 9524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217152" y="3008376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browser tabs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217152" y="338328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focus dies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160520"/>
            <a:ext cx="11091672" cy="1737360"/>
          </a:xfrm>
          <a:prstGeom prst="roundRect">
            <a:avLst>
              <a:gd name="adj" fmla="val 5263"/>
            </a:avLst>
          </a:prstGeom>
          <a:solidFill>
            <a:srgbClr val="0E1730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7240" y="4315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fragmentation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77240" y="473659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context-switching — re-finding where each thing lives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lost between apps that never talk to each other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disconnected from the deadlines and notes that drive it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due dates, weak organization, and little ownership of your own data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TOOLS FALL SHORT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tools solve tasks — not continuity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371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8" name="Shape 6"/>
          <p:cNvSpPr/>
          <p:nvPr/>
        </p:nvSpPr>
        <p:spPr>
          <a:xfrm>
            <a:off x="1906524" y="6441948"/>
            <a:ext cx="64008" cy="6400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local-first student workspace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does one job well, then hands you off. The thread between planning, writing, studying, tracking, and recovering your work breaks at every boundary.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944" y="265176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notes app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" y="3429000"/>
            <a:ext cx="18470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at writing. Blind to your deadlines, classes, and study schedule.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61488" y="246888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07792" y="265176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07792" y="3429000"/>
            <a:ext cx="18470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to-dos. Doesn't hold your notes, exams, or review.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74336" y="246888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20640" y="265176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3429000"/>
            <a:ext cx="18470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questions. No memory of your workspace; your data leaves your control.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87184" y="246888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33488" y="265176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LMS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33488" y="3429000"/>
            <a:ext cx="18470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assignments. Read-only, per-school, not your personal system.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00032" y="246888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546336" y="265176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app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46336" y="3429000"/>
            <a:ext cx="18470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Drills flashcards. Disconnected from the material and the calendar.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don't need another silo. They need one thread through all of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SUTRA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workspace. Every thread.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371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8" name="Shape 6"/>
          <p:cNvSpPr/>
          <p:nvPr/>
        </p:nvSpPr>
        <p:spPr>
          <a:xfrm>
            <a:off x="1906524" y="6441948"/>
            <a:ext cx="64008" cy="6400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local-first student workspace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1" name="Image 0" descr="/tmp/build/img/sutra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828800"/>
            <a:ext cx="2743200" cy="2743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16459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is Sanskrit for a thread — the line that holds separate beads into one piece.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24231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operating system, concretely: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2880360"/>
            <a:ext cx="7955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private workspace for your whole academic life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deadlines, classes, studying, and planning that reference each other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preserved instead of scattered across unrelated apps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AI assistance that reads your workspace — and only with your approval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on your device, portable in a single file, owned by you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the thread metaphor sparingly — inside the app, labels stay literal: Today, Notes, Homework, Timeline.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SUTRA IS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snapshot of the product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371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8" name="Shape 6"/>
          <p:cNvSpPr/>
          <p:nvPr/>
        </p:nvSpPr>
        <p:spPr>
          <a:xfrm>
            <a:off x="1906524" y="6441948"/>
            <a:ext cx="64008" cy="6400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local-first student workspace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517904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1444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48940" y="1517904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3150108" y="1444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38344" y="1517904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5239512" y="1444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05472" y="1517904"/>
            <a:ext cx="146304" cy="146304"/>
          </a:xfrm>
          <a:prstGeom prst="ellipse">
            <a:avLst/>
          </a:prstGeom>
          <a:solidFill>
            <a:srgbClr val="8A97B4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1444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1965960"/>
            <a:ext cx="2724912" cy="3886200"/>
          </a:xfrm>
          <a:prstGeom prst="roundRect">
            <a:avLst>
              <a:gd name="adj" fmla="val 3356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2185416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969264" y="2093976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2569464"/>
            <a:ext cx="239572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+ rich editor</a:t>
            </a:r>
            <a:endParaRPr lang="en-US" sz="103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/ Deadline Radar</a:t>
            </a:r>
            <a:endParaRPr lang="en-US" sz="103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calendar</a:t>
            </a:r>
            <a:endParaRPr lang="en-US" sz="103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03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Study + Battle Plan</a:t>
            </a:r>
            <a:endParaRPr lang="en-US" sz="103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(5 modes)</a:t>
            </a:r>
            <a:endParaRPr lang="en-US" sz="103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/ Life / Work</a:t>
            </a:r>
            <a:endParaRPr lang="en-US" sz="103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save + .sutra backup</a:t>
            </a:r>
            <a:endParaRPr lang="en-US" sz="103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+ CSS overrides</a:t>
            </a:r>
            <a:endParaRPr lang="en-US" sz="103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CSP hardening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3392424" y="1965960"/>
            <a:ext cx="2724912" cy="3886200"/>
          </a:xfrm>
          <a:prstGeom prst="roundRect">
            <a:avLst>
              <a:gd name="adj" fmla="val 3356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75304" y="2185416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5" name="Text 23"/>
          <p:cNvSpPr/>
          <p:nvPr/>
        </p:nvSpPr>
        <p:spPr>
          <a:xfrm>
            <a:off x="3813048" y="2093976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575304" y="2569464"/>
            <a:ext cx="239572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QA across all surfaces</a:t>
            </a:r>
            <a:endParaRPr lang="en-US" sz="103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Hub depth</a:t>
            </a:r>
            <a:endParaRPr lang="en-US" sz="103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polish</a:t>
            </a:r>
            <a:endParaRPr lang="en-US" sz="103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ecosystem</a:t>
            </a:r>
            <a:endParaRPr lang="en-US" sz="103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Header-level security on host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6236208" y="1965960"/>
            <a:ext cx="2724912" cy="3886200"/>
          </a:xfrm>
          <a:prstGeom prst="roundRect">
            <a:avLst>
              <a:gd name="adj" fmla="val 3356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19088" y="2185416"/>
            <a:ext cx="164592" cy="16459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9" name="Text 27"/>
          <p:cNvSpPr/>
          <p:nvPr/>
        </p:nvSpPr>
        <p:spPr>
          <a:xfrm>
            <a:off x="6656832" y="2093976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19088" y="2569464"/>
            <a:ext cx="239572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 surface</a:t>
            </a:r>
            <a:endParaRPr lang="en-US" sz="103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assistance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9079992" y="1965960"/>
            <a:ext cx="2724912" cy="3886200"/>
          </a:xfrm>
          <a:prstGeom prst="roundRect">
            <a:avLst>
              <a:gd name="adj" fmla="val 3356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262872" y="2185416"/>
            <a:ext cx="164592" cy="164592"/>
          </a:xfrm>
          <a:prstGeom prst="ellipse">
            <a:avLst/>
          </a:prstGeom>
          <a:solidFill>
            <a:srgbClr val="8A97B4"/>
          </a:solidFill>
          <a:ln/>
        </p:spPr>
      </p:sp>
      <p:sp>
        <p:nvSpPr>
          <p:cNvPr id="33" name="Text 31"/>
          <p:cNvSpPr/>
          <p:nvPr/>
        </p:nvSpPr>
        <p:spPr>
          <a:xfrm>
            <a:off x="9500616" y="2093976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262872" y="2569464"/>
            <a:ext cx="239572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opt-in sync</a:t>
            </a:r>
            <a:endParaRPr lang="en-US" sz="103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Service-worker offline</a:t>
            </a:r>
            <a:endParaRPr lang="en-US" sz="103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workflow</a:t>
            </a:r>
            <a:endParaRPr lang="en-US" sz="103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student-OS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workspace fits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371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8" name="Shape 6"/>
          <p:cNvSpPr/>
          <p:nvPr/>
        </p:nvSpPr>
        <p:spPr>
          <a:xfrm>
            <a:off x="1906524" y="6441948"/>
            <a:ext cx="64008" cy="6400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local-first student workspace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3776" y="1499616"/>
            <a:ext cx="5596128" cy="4315968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2" name="Image 0" descr="/tmp/build/img/diagram-modu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5486400" cy="42062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58338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module map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355080" y="1554480"/>
            <a:ext cx="5285232" cy="4206240"/>
          </a:xfrm>
          <a:prstGeom prst="roundRect">
            <a:avLst>
              <a:gd name="adj" fmla="val 2174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83680" y="17373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top tab switcher exposes the workspace; the active Sutra Mode decides which views are primary.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583680" y="25146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daily command center + one Next Step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— month/week/day/year planner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— hierarchical tree + rich editor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Homework, AP Study, Testing Hub, Review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College, Life, Projects &amp; Work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Assistant launcher, bottom-right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— themes, customization, data, modes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&amp; ORGANIZATION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writing surface that organizes itself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371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8" name="Shape 6"/>
          <p:cNvSpPr/>
          <p:nvPr/>
        </p:nvSpPr>
        <p:spPr>
          <a:xfrm>
            <a:off x="1906524" y="6441948"/>
            <a:ext cx="64008" cy="6400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local-first student workspace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481328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4813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965960"/>
            <a:ext cx="5577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page tree with :: nesting, search, tags, favorites, drag-reorder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editor: formatting, slash menu, insert menu, tables, embeds, checklists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Mode, per-page Document Backgrounds, split view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blocks (pen / highlighter / eraser), stored as vectors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pages — PIN as a salted SHA-256 hash, never raw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history, and full export inside every .sutra backup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45936" y="1591056"/>
            <a:ext cx="5321808" cy="3355848"/>
          </a:xfrm>
          <a:prstGeom prst="roundRect">
            <a:avLst>
              <a:gd name="adj" fmla="val 1635"/>
            </a:avLst>
          </a:prstGeom>
          <a:solidFill>
            <a:srgbClr val="FFFFFF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0" descr="/tmp/build/img/notes-editor-desk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645920"/>
            <a:ext cx="5212080" cy="32461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0" y="496519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editor — real screenshot (pre-rebrand build)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00800" y="5212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note travels with your workspace and round-trips through backups.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PLANNING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Deadlines, classes, and time in one place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371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8" name="Shape 6"/>
          <p:cNvSpPr/>
          <p:nvPr/>
        </p:nvSpPr>
        <p:spPr>
          <a:xfrm>
            <a:off x="1906524" y="6441948"/>
            <a:ext cx="64008" cy="6400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local-first student workspace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481328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4813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" y="1911096"/>
            <a:ext cx="5779008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4" name="Image 0" descr="/tmp/build/img/today-view-desk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65960"/>
            <a:ext cx="5669280" cy="32004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523951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command center (pre-rebrand build)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446520" y="1965960"/>
            <a:ext cx="5166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a Daily Thread + a deterministic single Next Step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Radar groups every deadline by urgency, with Schedule this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lanes for Subjects and Activities, with due-state chips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from School Portal parses pasted portal lines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calendar — month/week/day/year, recurrence, ICS in/out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Capture turns 'Chem essay due Friday hard' into the right item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connected to the work that drives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371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8" name="Shape 6"/>
          <p:cNvSpPr/>
          <p:nvPr/>
        </p:nvSpPr>
        <p:spPr>
          <a:xfrm>
            <a:off x="1906524" y="6441948"/>
            <a:ext cx="64008" cy="6400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local-first student workspace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481328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4813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1481328"/>
            <a:ext cx="4407408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1481328"/>
            <a:ext cx="4407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Hub: In Progress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" y="1911096"/>
            <a:ext cx="5779008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6" name="Image 0" descr="/tmp/build/img/testing-hub-desk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65960"/>
            <a:ext cx="5669280" cy="32004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48640" y="523951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Hub (pre-rebrand build)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446520" y="1965960"/>
            <a:ext cx="5166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— spaced repetition with a local SM-2-lite scheduler, no AI, no backend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modes: Flashcards, Learn, Write, Test, Match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Study: units, sessions, practice logs, weak-area flags, countdowns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Battle Plan recommends a concrete next session with reasoning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Hub: dashboard-first pinned exams (being deepened)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due surfaces on Today; decks index into global search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ASSISTANT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AI that reads your workspace — with your approval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371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8" name="Shape 6"/>
          <p:cNvSpPr/>
          <p:nvPr/>
        </p:nvSpPr>
        <p:spPr>
          <a:xfrm>
            <a:off x="1906524" y="6441948"/>
            <a:ext cx="64008" cy="6400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local-first student workspace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481328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4813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" y="1865376"/>
            <a:ext cx="6601968" cy="3950208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4" name="Image 0" descr="/tmp/build/img/diagram-assista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20240"/>
            <a:ext cx="6492240" cy="3840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5833872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data flow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223760" y="1920240"/>
            <a:ext cx="4389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key: OpenAI, Anthropic, Gemini, Groq, OpenRouter, or a local endpoint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Intelligence derives local signals on-device — calls no server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Access: Current Screen / Area / Full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Request vs Conversation Memory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/ Decline cards — you approve every change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live in sessionStorage only; never exported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ARCHITECTURE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by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371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8" name="Shape 6"/>
          <p:cNvSpPr/>
          <p:nvPr/>
        </p:nvSpPr>
        <p:spPr>
          <a:xfrm>
            <a:off x="1906524" y="6441948"/>
            <a:ext cx="64008" cy="6400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local-first student workspace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3630168" cy="1554480"/>
          </a:xfrm>
          <a:prstGeom prst="roundRect">
            <a:avLst>
              <a:gd name="adj" fmla="val 5882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048256"/>
            <a:ext cx="457200" cy="457200"/>
          </a:xfrm>
          <a:prstGeom prst="ellipse">
            <a:avLst/>
          </a:prstGeom>
          <a:solidFill>
            <a:srgbClr val="0E1730"/>
          </a:solidFill>
          <a:ln w="19050">
            <a:solidFill>
              <a:srgbClr val="5D82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35024" y="2029968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8096" y="2542032"/>
            <a:ext cx="3218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workspace lives in your browser's storage. No login, no Sutra account.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70248" y="1828800"/>
            <a:ext cx="3630168" cy="1554480"/>
          </a:xfrm>
          <a:prstGeom prst="roundRect">
            <a:avLst>
              <a:gd name="adj" fmla="val 5882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71416" y="2048256"/>
            <a:ext cx="457200" cy="457200"/>
          </a:xfrm>
          <a:prstGeom prst="ellipse">
            <a:avLst/>
          </a:prstGeom>
          <a:solidFill>
            <a:srgbClr val="0E1730"/>
          </a:solidFill>
          <a:ln w="19050">
            <a:solidFill>
              <a:srgbClr val="5D8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71416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56632" y="2029968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89704" y="2542032"/>
            <a:ext cx="3218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operation is local — no network round-trip to read or edit.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991856" y="1828800"/>
            <a:ext cx="3630168" cy="1554480"/>
          </a:xfrm>
          <a:prstGeom prst="roundRect">
            <a:avLst>
              <a:gd name="adj" fmla="val 5882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93024" y="2048256"/>
            <a:ext cx="457200" cy="457200"/>
          </a:xfrm>
          <a:prstGeom prst="ellipse">
            <a:avLst/>
          </a:prstGeom>
          <a:solidFill>
            <a:srgbClr val="0E1730"/>
          </a:solidFill>
          <a:ln w="19050">
            <a:solidFill>
              <a:srgbClr val="5D82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93024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78240" y="2029968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11312" y="2542032"/>
            <a:ext cx="3218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telemetry, no cloud sync. Nothing is uploaded by the app itself.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566160"/>
            <a:ext cx="3630168" cy="1554480"/>
          </a:xfrm>
          <a:prstGeom prst="roundRect">
            <a:avLst>
              <a:gd name="adj" fmla="val 5882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3785616"/>
            <a:ext cx="457200" cy="457200"/>
          </a:xfrm>
          <a:prstGeom prst="ellipse">
            <a:avLst/>
          </a:prstGeom>
          <a:solidFill>
            <a:srgbClr val="0E1730"/>
          </a:solidFill>
          <a:ln w="19050">
            <a:solidFill>
              <a:srgbClr val="5D82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35024" y="3767328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68096" y="4279392"/>
            <a:ext cx="3218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loaded, the workspace needs no connection to read or edit.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270248" y="3566160"/>
            <a:ext cx="3630168" cy="1554480"/>
          </a:xfrm>
          <a:prstGeom prst="roundRect">
            <a:avLst>
              <a:gd name="adj" fmla="val 5882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71416" y="3785616"/>
            <a:ext cx="457200" cy="457200"/>
          </a:xfrm>
          <a:prstGeom prst="ellipse">
            <a:avLst/>
          </a:prstGeom>
          <a:solidFill>
            <a:srgbClr val="0E1730"/>
          </a:solidFill>
          <a:ln w="19050">
            <a:solidFill>
              <a:srgbClr val="5D82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71416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56632" y="3767328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489704" y="4279392"/>
            <a:ext cx="3218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.sutra file is a complete, movable backup of everything.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991856" y="3566160"/>
            <a:ext cx="3630168" cy="1554480"/>
          </a:xfrm>
          <a:prstGeom prst="roundRect">
            <a:avLst>
              <a:gd name="adj" fmla="val 5882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93024" y="3785616"/>
            <a:ext cx="457200" cy="457200"/>
          </a:xfrm>
          <a:prstGeom prst="ellipse">
            <a:avLst/>
          </a:prstGeom>
          <a:solidFill>
            <a:srgbClr val="0E1730"/>
          </a:solidFill>
          <a:ln w="19050">
            <a:solidFill>
              <a:srgbClr val="5D82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93024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78240" y="3767328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211312" y="4279392"/>
            <a:ext cx="3218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privacy boundary is visible and the export is yours to keep.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implementation: IndexedDB workspace, debounced save + lifecycle flush, and a vendored ZIP library so core backups make zero third-party requests.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&amp; RECOVERY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is hard to lose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371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8" name="Shape 6"/>
          <p:cNvSpPr/>
          <p:nvPr/>
        </p:nvSpPr>
        <p:spPr>
          <a:xfrm>
            <a:off x="1906524" y="6441948"/>
            <a:ext cx="64008" cy="6400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local-first student workspace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481328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4813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" y="1865376"/>
            <a:ext cx="6876288" cy="3995928"/>
          </a:xfrm>
          <a:prstGeom prst="roundRect">
            <a:avLst>
              <a:gd name="adj" fmla="val 1373"/>
            </a:avLst>
          </a:prstGeom>
          <a:solidFill>
            <a:srgbClr val="FFFFFF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4" name="Image 0" descr="/tmp/build/img/diagram-recove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20240"/>
            <a:ext cx="6766560" cy="3886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5879592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Autosave &amp; recovery sequence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498080" y="192024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Debounced autosave + a synchronous flush on page-hide / unload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persistence-health pipeline classifies quota / serialization / transaction / attachment failures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non-dismissible banner with Retry + Emergency .sutra export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in-memory workspace is always preserved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Pre-import safety snapshot before every import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export refuses to run if attachment blobs are missing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CONSTRUCTION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security posture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371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8" name="Shape 6"/>
          <p:cNvSpPr/>
          <p:nvPr/>
        </p:nvSpPr>
        <p:spPr>
          <a:xfrm>
            <a:off x="1906524" y="6441948"/>
            <a:ext cx="64008" cy="6400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local-first student workspace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048256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19568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on device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2487168"/>
            <a:ext cx="328269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workspace in IndexedDB + localStorage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backgrounds + inline images local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telemetry, no required account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70248" y="182880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53128" y="2048256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4654296" y="19568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only on your action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53128" y="2487168"/>
            <a:ext cx="328269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calls go browser → your chosen provider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media embeds + AP resource links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import/export helper libraries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91856" y="182880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74736" y="2048256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8375904" y="19568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174736" y="2487168"/>
            <a:ext cx="328269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(sessionStorage only, redacted)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(session-local)</a:t>
            </a:r>
            <a:endParaRPr lang="en-US" sz="11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stripped from every export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0E1730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51389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limits: </a:t>
            </a:r>
            <a:pPr indent="0" marL="0">
              <a:buNone/>
            </a:pPr>
            <a:r>
              <a:rPr lang="en-US" sz="115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meta-CSP cannot set frame-ancestors (header-only — unavailable on GitHub Pages); script-src uses 'unsafe-inline' for the no-build app; .sutra exports are not encrypted (treat as personal files).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&amp; PERSONALIZATION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yours — without a marketplace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371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8" name="Shape 6"/>
          <p:cNvSpPr/>
          <p:nvPr/>
        </p:nvSpPr>
        <p:spPr>
          <a:xfrm>
            <a:off x="1906524" y="6441948"/>
            <a:ext cx="64008" cy="6400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local-first student workspace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874520"/>
            <a:ext cx="2724912" cy="3566160"/>
          </a:xfrm>
          <a:prstGeom prst="roundRect">
            <a:avLst>
              <a:gd name="adj" fmla="val 3356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075688"/>
            <a:ext cx="1938528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7568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51460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0175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21+ presets incl. the Sutra signature, Retro, macOS 26, Windows 11, and more. Apply to current page, all pages, or a custom subset.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92424" y="1874520"/>
            <a:ext cx="2724912" cy="3566160"/>
          </a:xfrm>
          <a:prstGeom prst="roundRect">
            <a:avLst>
              <a:gd name="adj" fmla="val 3356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75304" y="2075688"/>
            <a:ext cx="1938528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3575304" y="207568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75304" y="251460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Overrides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75304" y="30175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snippets with enable/disable, live preview, brace validation, import/export, and a non-destructive reset. Applied after themes.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36208" y="1874520"/>
            <a:ext cx="2724912" cy="3566160"/>
          </a:xfrm>
          <a:prstGeom prst="roundRect">
            <a:avLst>
              <a:gd name="adj" fmla="val 3356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2075688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23" name="Text 21"/>
          <p:cNvSpPr/>
          <p:nvPr/>
        </p:nvSpPr>
        <p:spPr>
          <a:xfrm>
            <a:off x="6419088" y="207568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19088" y="251460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19088" y="30175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bundles only, sandboxed in an iframe behind a permission allowlist. Install disabled; re-review forced on import.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79992" y="1874520"/>
            <a:ext cx="2724912" cy="3566160"/>
          </a:xfrm>
          <a:prstGeom prst="roundRect">
            <a:avLst>
              <a:gd name="adj" fmla="val 3356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62872" y="2075688"/>
            <a:ext cx="1938528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28" name="Text 26"/>
          <p:cNvSpPr/>
          <p:nvPr/>
        </p:nvSpPr>
        <p:spPr>
          <a:xfrm>
            <a:off x="9262872" y="207568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262872" y="251460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Mode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62872" y="30175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with no custom CSS and no plugins, and never deletes anything — the safe way back from a bad customization.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local-first and travels inside your workspace backup. No accounts, no store, no server.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THREAD, END TO 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student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371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8" name="Shape 6"/>
          <p:cNvSpPr/>
          <p:nvPr/>
        </p:nvSpPr>
        <p:spPr>
          <a:xfrm>
            <a:off x="1906524" y="6441948"/>
            <a:ext cx="64008" cy="6400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local-first student workspace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73936" y="1499616"/>
            <a:ext cx="8613648" cy="4681728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2" name="Image 0" descr="/tmp/build/img/diagram-work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0" y="1554480"/>
            <a:ext cx="85039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Sutra is different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371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8" name="Shape 6"/>
          <p:cNvSpPr/>
          <p:nvPr/>
        </p:nvSpPr>
        <p:spPr>
          <a:xfrm>
            <a:off x="1906524" y="6441948"/>
            <a:ext cx="64008" cy="6400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local-first student workspace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371600"/>
                <a:gridCol w="1298448"/>
                <a:gridCol w="1207008"/>
                <a:gridCol w="1298448"/>
                <a:gridCol w="1325880"/>
                <a:gridCol w="1207008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mgr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chatbot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 LMS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Student-specific workflow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Per-school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Local-first data ownership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planning + deadlines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↔ study ↔ tasks continuity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Spaced-repetition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Recoverable single-file backup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Optional, approval-gated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customization / themes / CSS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Categories, not specific competitors. ‘~’ / ‘Varies’ = depends on the product. Sutra's edge is continuity + ownership, not any single feature.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MATURITY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read on maturity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371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8" name="Shape 6"/>
          <p:cNvSpPr/>
          <p:nvPr/>
        </p:nvSpPr>
        <p:spPr>
          <a:xfrm>
            <a:off x="1906524" y="6441948"/>
            <a:ext cx="64008" cy="6400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local-first student workspace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020824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969264" y="19293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today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8096" y="2404872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Today, Timeline, Homework, AP Study, Review, College, Life, Work, local-first save, .sutra backup, themes — all shipped, with a 14-check release gate passing.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53912" y="1783080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2020824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6574536" y="19293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hardened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73368" y="2404872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QA across every surface, Testing Hub depth, onboarding polish, the plugin ecosystem, and header-level security on the host.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986784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969264" y="38953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further QA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8096" y="4370832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viewport × surface matrix and physical-device testing are not yet signed off; the encoding gate suppresses 22 allowlisted findings.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53912" y="3749040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121D3C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55080" y="3986784"/>
            <a:ext cx="164592" cy="16459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5" name="Text 23"/>
          <p:cNvSpPr/>
          <p:nvPr/>
        </p:nvSpPr>
        <p:spPr>
          <a:xfrm>
            <a:off x="6574536" y="38953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/ Roadmap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73368" y="4370832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 and proactive assistance are light; opt-in sync, a service worker, and cross-device workflow are roadmap, not present.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strong enough for private testing, portfolio, and a controlled student beta; not yet production-critical for users with no backups.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Sutra goes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371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8" name="Shape 6"/>
          <p:cNvSpPr/>
          <p:nvPr/>
        </p:nvSpPr>
        <p:spPr>
          <a:xfrm>
            <a:off x="1906524" y="6441948"/>
            <a:ext cx="64008" cy="6400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local-first student workspace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" y="1545336"/>
            <a:ext cx="10808208" cy="4407408"/>
          </a:xfrm>
          <a:prstGeom prst="roundRect">
            <a:avLst>
              <a:gd name="adj" fmla="val 1245"/>
            </a:avLst>
          </a:prstGeom>
          <a:solidFill>
            <a:srgbClr val="FFFFFF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2" name="Image 0" descr="/tmp/build/img/diagram-road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00200"/>
            <a:ext cx="106984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80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Sutra matters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9202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don't need another isolated app.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30175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a workspace that preserves context, protects their work, and turns academic obligations into organized action — while keeping their data their own.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04672" y="4937760"/>
            <a:ext cx="10515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4882896"/>
            <a:ext cx="109728" cy="109728"/>
          </a:xfrm>
          <a:prstGeom prst="ellipse">
            <a:avLst/>
          </a:prstGeom>
          <a:solidFill>
            <a:srgbClr val="8FA9F8"/>
          </a:solidFill>
          <a:ln/>
        </p:spPr>
      </p:sp>
      <p:sp>
        <p:nvSpPr>
          <p:cNvPr id="7" name="Shape 5"/>
          <p:cNvSpPr/>
          <p:nvPr/>
        </p:nvSpPr>
        <p:spPr>
          <a:xfrm>
            <a:off x="2871216" y="4882896"/>
            <a:ext cx="109728" cy="10972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8" name="Shape 6"/>
          <p:cNvSpPr/>
          <p:nvPr/>
        </p:nvSpPr>
        <p:spPr>
          <a:xfrm>
            <a:off x="5065776" y="4882896"/>
            <a:ext cx="109728" cy="109728"/>
          </a:xfrm>
          <a:prstGeom prst="ellipse">
            <a:avLst/>
          </a:prstGeom>
          <a:solidFill>
            <a:srgbClr val="8FA9F8"/>
          </a:solidFill>
          <a:ln/>
        </p:spPr>
      </p:sp>
      <p:sp>
        <p:nvSpPr>
          <p:cNvPr id="9" name="Shape 7"/>
          <p:cNvSpPr/>
          <p:nvPr/>
        </p:nvSpPr>
        <p:spPr>
          <a:xfrm>
            <a:off x="7260336" y="4882896"/>
            <a:ext cx="109728" cy="10972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10" name="Shape 8"/>
          <p:cNvSpPr/>
          <p:nvPr/>
        </p:nvSpPr>
        <p:spPr>
          <a:xfrm>
            <a:off x="9454896" y="4882896"/>
            <a:ext cx="109728" cy="109728"/>
          </a:xfrm>
          <a:prstGeom prst="ellipse">
            <a:avLst/>
          </a:prstGeom>
          <a:solidFill>
            <a:srgbClr val="8FA9F8"/>
          </a:solidFill>
          <a:ln/>
        </p:spPr>
      </p:sp>
      <p:sp>
        <p:nvSpPr>
          <p:cNvPr id="11" name="Shape 9"/>
          <p:cNvSpPr/>
          <p:nvPr/>
        </p:nvSpPr>
        <p:spPr>
          <a:xfrm>
            <a:off x="11237976" y="4882896"/>
            <a:ext cx="109728" cy="10972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1663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thread Sutra runs through a student's whole academic life.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img/social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1371600"/>
            <a:ext cx="8229600" cy="43159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57150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workspace. Every thread.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914400" y="621792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4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github.com/tanujranjith/Sutra   ·   Apache-2.0   ·   Built by Tanuj Ranjith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371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8" name="Shape 6"/>
          <p:cNvSpPr/>
          <p:nvPr/>
        </p:nvSpPr>
        <p:spPr>
          <a:xfrm>
            <a:off x="1906524" y="6441948"/>
            <a:ext cx="64008" cy="6400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local-first student workspace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50976" y="1499616"/>
            <a:ext cx="10259568" cy="4681728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2" name="Image 0" descr="/tmp/build/img/diagram-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" y="1554480"/>
            <a:ext cx="101498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.sutra export &amp; import lifecycle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371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8" name="Shape 6"/>
          <p:cNvSpPr/>
          <p:nvPr/>
        </p:nvSpPr>
        <p:spPr>
          <a:xfrm>
            <a:off x="1906524" y="6441948"/>
            <a:ext cx="64008" cy="6400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local-first student workspace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16736" y="1499616"/>
            <a:ext cx="9528048" cy="4590288"/>
          </a:xfrm>
          <a:prstGeom prst="roundRect">
            <a:avLst>
              <a:gd name="adj" fmla="val 1195"/>
            </a:avLst>
          </a:prstGeom>
          <a:solidFill>
            <a:srgbClr val="FFFFFF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2" name="Image 0" descr="/tmp/build/img/diagram-sutra-lifecyc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554480"/>
            <a:ext cx="94183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371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8" name="Shape 6"/>
          <p:cNvSpPr/>
          <p:nvPr/>
        </p:nvSpPr>
        <p:spPr>
          <a:xfrm>
            <a:off x="1906524" y="6441948"/>
            <a:ext cx="64008" cy="6400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local-first student workspace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08176" y="1499616"/>
            <a:ext cx="9345168" cy="4590288"/>
          </a:xfrm>
          <a:prstGeom prst="roundRect">
            <a:avLst>
              <a:gd name="adj" fmla="val 1195"/>
            </a:avLst>
          </a:prstGeom>
          <a:solidFill>
            <a:srgbClr val="FFFFFF"/>
          </a:solidFill>
          <a:ln w="12700">
            <a:solidFill>
              <a:srgbClr val="27375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pic>
        <p:nvPicPr>
          <p:cNvPr id="12" name="Image 0" descr="/tmp/build/img/diagram-persist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1554480"/>
            <a:ext cx="92354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A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Release-readiness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371600" cy="0"/>
          </a:xfrm>
          <a:prstGeom prst="line">
            <a:avLst/>
          </a:prstGeom>
          <a:noFill/>
          <a:ln w="19050">
            <a:solidFill>
              <a:srgbClr val="2737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7" name="Shape 5"/>
          <p:cNvSpPr/>
          <p:nvPr/>
        </p:nvSpPr>
        <p:spPr>
          <a:xfrm>
            <a:off x="1449324" y="6441948"/>
            <a:ext cx="64008" cy="64008"/>
          </a:xfrm>
          <a:prstGeom prst="ellipse">
            <a:avLst/>
          </a:prstGeom>
          <a:solidFill>
            <a:srgbClr val="27375F"/>
          </a:solidFill>
          <a:ln/>
        </p:spPr>
      </p:sp>
      <p:sp>
        <p:nvSpPr>
          <p:cNvPr id="8" name="Shape 6"/>
          <p:cNvSpPr/>
          <p:nvPr/>
        </p:nvSpPr>
        <p:spPr>
          <a:xfrm>
            <a:off x="1906524" y="6441948"/>
            <a:ext cx="64008" cy="64008"/>
          </a:xfrm>
          <a:prstGeom prst="ellipse">
            <a:avLst/>
          </a:prstGeom>
          <a:solidFill>
            <a:srgbClr val="5D82F5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6336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Sutra — local-first student workspace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336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286000"/>
                <a:gridCol w="5879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8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14 static guards pass; persistence + recovery verified.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/ showcase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story; recapture Sutra-branded screenshots first.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Hackathon / demo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Local-first means no server to fail on stage.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 student beta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with caveats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 the device QA matrix; fix the 'Flowy' string.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Wider public beta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to a header-capable host (frame-ancestors); finish mobile QA.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Production-critical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4B3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sync/service worker; users must keep .sutra backups.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37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Sutra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Sutra — Pitch Deck</dc:title>
  <dc:subject>PptxGenJS Presentation</dc:subject>
  <dc:creator>Tanuj Ranjith</dc:creator>
  <cp:lastModifiedBy>Tanuj Ranjith</cp:lastModifiedBy>
  <cp:revision>1</cp:revision>
  <dcterms:created xsi:type="dcterms:W3CDTF">2026-06-05T21:52:22Z</dcterms:created>
  <dcterms:modified xsi:type="dcterms:W3CDTF">2026-06-05T21:52:22Z</dcterms:modified>
</cp:coreProperties>
</file>